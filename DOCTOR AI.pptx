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chivo Black" panose="020B0604020202020204" charset="0"/>
      <p:regular r:id="rId15"/>
    </p:embeddedFont>
    <p:embeddedFont>
      <p:font typeface="Garet" panose="020B0604020202020204" charset="0"/>
      <p:regular r:id="rId16"/>
    </p:embeddedFont>
    <p:embeddedFont>
      <p:font typeface="Garet Bold" panose="020B0604020202020204" charset="0"/>
      <p:regular r:id="rId17"/>
    </p:embeddedFont>
    <p:embeddedFont>
      <p:font typeface="Garet Italics" panose="020B0604020202020204" charset="0"/>
      <p:regular r:id="rId18"/>
    </p:embeddedFont>
    <p:embeddedFont>
      <p:font typeface="Open Sans" panose="020B0606030504020204" pitchFamily="34" charset="0"/>
      <p:regular r:id="rId19"/>
    </p:embeddedFont>
    <p:embeddedFont>
      <p:font typeface="Trend Sans One" panose="020B0604020202020204" charset="0"/>
      <p:regular r:id="rId20"/>
    </p:embeddedFont>
    <p:embeddedFont>
      <p:font typeface="Trend Slab Four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slide introduces the project, authors, and institution. Briefly state the motivation: using AI for accessible and explainable healthcare diagnosis.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ikhil.2226cseml1006@kiet.edu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71666" y="1181100"/>
            <a:ext cx="7623156" cy="1581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1"/>
              </a:lnSpc>
              <a:spcBef>
                <a:spcPct val="0"/>
              </a:spcBef>
            </a:pPr>
            <a:r>
              <a:rPr lang="en-US" sz="3937" spc="-31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 EXPLAINABLE AI DIAGNOSTIC FRAMEWORK WITH SHAP-DRIVEN DECISION INTERPRETABILITY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71666" y="5105400"/>
            <a:ext cx="8542991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  <a:spcBef>
                <a:spcPct val="0"/>
              </a:spcBef>
            </a:pPr>
            <a:r>
              <a:rPr lang="en-US" sz="2199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AI - Driven Disease Prediction using Ensemble Learning and SHAP Explainability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46614" y="3166769"/>
            <a:ext cx="2492786" cy="432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ICMCSI - 0162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5760" y="511504"/>
            <a:ext cx="5545714" cy="280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endParaRPr/>
          </a:p>
          <a:p>
            <a:pPr algn="ctr">
              <a:lnSpc>
                <a:spcPts val="3220"/>
              </a:lnSpc>
            </a:pP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1st Pulkit </a:t>
            </a:r>
          </a:p>
          <a:p>
            <a:pPr algn="ctr">
              <a:lnSpc>
                <a:spcPts val="3220"/>
              </a:lnSpc>
            </a:pP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Department of CSE-AI&amp;ML</a:t>
            </a:r>
          </a:p>
          <a:p>
            <a:pPr algn="ctr">
              <a:lnSpc>
                <a:spcPts val="3359"/>
              </a:lnSpc>
            </a:pPr>
            <a:r>
              <a:rPr lang="en-US" sz="2400" u="none" spc="-1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KIET Group of Institutions</a:t>
            </a:r>
          </a:p>
          <a:p>
            <a:pPr algn="ctr">
              <a:lnSpc>
                <a:spcPts val="3220"/>
              </a:lnSpc>
            </a:pP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Delhi-NCR, Ghaziabad, India </a:t>
            </a:r>
          </a:p>
          <a:p>
            <a:pPr algn="ctr">
              <a:lnSpc>
                <a:spcPts val="3220"/>
              </a:lnSpc>
            </a:pP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pulkit.2226cseml1051@kiet.edu</a:t>
            </a:r>
          </a:p>
          <a:p>
            <a:pPr algn="ctr">
              <a:lnSpc>
                <a:spcPts val="3220"/>
              </a:lnSpc>
            </a:pP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74414" y="930604"/>
            <a:ext cx="5545714" cy="238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2nd 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 Kaul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Department of CSE-AI&amp;ML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</a:p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KIET Group of Institutions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ctr">
              <a:lnSpc>
                <a:spcPts val="3220"/>
              </a:lnSpc>
            </a:pP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Delhi-NCR, Ghaziabad, India 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" tooltip="mailto:nikhil.2226cseml1006@kiet.edu"/>
              </a:rPr>
              <a:t>nikhil.2226cseml1006@kiet.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edu </a:t>
            </a:r>
          </a:p>
          <a:p>
            <a:pPr algn="ctr">
              <a:lnSpc>
                <a:spcPts val="3220"/>
              </a:lnSpc>
            </a:pPr>
            <a:endParaRPr lang="en-US" sz="2300" spc="-18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883019" y="930604"/>
            <a:ext cx="5545714" cy="238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3rd Raghav 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shra</a:t>
            </a:r>
          </a:p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Department of CSE-AI&amp;ML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KIET Group of Institutions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ctr">
              <a:lnSpc>
                <a:spcPts val="3220"/>
              </a:lnSpc>
            </a:pP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Delhi-NCR, Ghaziabad, India 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raghav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.2226cseml105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@kiet.edu</a:t>
            </a:r>
          </a:p>
          <a:p>
            <a:pPr algn="ctr">
              <a:lnSpc>
                <a:spcPts val="3220"/>
              </a:lnSpc>
            </a:pPr>
            <a:endParaRPr lang="en-US" sz="2300" spc="-18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5095875"/>
            <a:ext cx="5545714" cy="198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4t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Pandey</a:t>
            </a:r>
          </a:p>
          <a:p>
            <a:pPr algn="ctr">
              <a:lnSpc>
                <a:spcPts val="3220"/>
              </a:lnSpc>
            </a:pP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Department of CSE-AI&amp;ML</a:t>
            </a:r>
          </a:p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KIET Group of Institutions</a:t>
            </a:r>
          </a:p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Delhi-NCR, Ghaziabad, India 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.2226cseml10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44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@kiet.edu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74414" y="5095875"/>
            <a:ext cx="5545714" cy="198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5t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Akan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sha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Department of CSE-AI&amp;ML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KIET Group of Institutions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Delhi-NCR, Ghaziabad, India 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anksha29ja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ai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@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gma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83019" y="5095875"/>
            <a:ext cx="5545714" cy="198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6t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uk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esh Kumar Tr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</a:t>
            </a:r>
          </a:p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Department of CSE-AI</a:t>
            </a:r>
          </a:p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KIET Group of Institutions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ctr">
              <a:lnSpc>
                <a:spcPts val="3220"/>
              </a:lnSpc>
            </a:pP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Delhi-NCR, Ghaziabad, India 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uk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eshtr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@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gma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300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-US" sz="2300" u="none" spc="-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06637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04641" y="2411117"/>
            <a:ext cx="6531462" cy="112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08"/>
              </a:lnSpc>
              <a:spcBef>
                <a:spcPct val="0"/>
              </a:spcBef>
            </a:pPr>
            <a:r>
              <a:rPr lang="en-US" sz="4308" spc="-34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 &amp; 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7612" y="2296817"/>
            <a:ext cx="7091688" cy="482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Fast and accurate disease diagnosis is essential for effective healthcare 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Limitations of existing symptoms-based diagnostic tools:</a:t>
            </a:r>
          </a:p>
          <a:p>
            <a:pPr marL="906777" lvl="2" indent="-302259" algn="l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Lack of explainability: fail to explain </a:t>
            </a:r>
            <a:r>
              <a:rPr lang="en-US" sz="2099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why 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diagnosis is suggested</a:t>
            </a:r>
          </a:p>
          <a:p>
            <a:pPr marL="906777" lvl="2" indent="-302259" algn="l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Ethical and accountability concerns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Therefore there is a need of a diagnostic system that is:</a:t>
            </a:r>
          </a:p>
          <a:p>
            <a:pPr marL="906777" lvl="2" indent="-302259" algn="l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Accurate</a:t>
            </a:r>
          </a:p>
          <a:p>
            <a:pPr marL="906777" lvl="2" indent="-302259" algn="l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Transparent</a:t>
            </a:r>
          </a:p>
          <a:p>
            <a:pPr marL="906777" lvl="2" indent="-302259" algn="l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Accessible and interpretable</a:t>
            </a:r>
          </a:p>
          <a:p>
            <a:pPr algn="l">
              <a:lnSpc>
                <a:spcPts val="2939"/>
              </a:lnSpc>
            </a:pPr>
            <a:endParaRPr lang="en-US" sz="20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994481" y="5105400"/>
            <a:ext cx="3120902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Doctor AI uses: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Ensemble learning : SVM + DNN (soft voting)</a:t>
            </a:r>
          </a:p>
          <a:p>
            <a:pPr marL="431800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SHAP-based Explainability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86449" y="5105400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21524" y="5105400"/>
            <a:ext cx="3188432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simple, user-friendly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Web-based intelligent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medical assistant.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Predicts diseases from user-reported symptoms.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98058" y="5105400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5871" y="1413854"/>
            <a:ext cx="6550602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Proposed Solution:</a:t>
            </a:r>
          </a:p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Doctor AI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91877" y="5105400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69040" y="5105400"/>
            <a:ext cx="3120902" cy="280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Features provided: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Disease prediction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Various medical recommendations: diet, medications, etc, .</a:t>
            </a:r>
          </a:p>
          <a:p>
            <a:pPr marL="431800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Downloadable PDF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28700" y="1557564"/>
            <a:ext cx="7279037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200519"/>
            <a:ext cx="882335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End-to-End Pipeline: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185199"/>
            <a:ext cx="328308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AutoNum type="arabicPeriod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User symptoms input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08788" y="5185199"/>
            <a:ext cx="2646544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AutoNum type="arabicPeriod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Feature vector generation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05667" y="5185199"/>
            <a:ext cx="2450214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AutoNum type="arabicPeriod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SVM and DNN prediction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906236" y="5185199"/>
            <a:ext cx="2180094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AutoNum type="arabicPeriod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Soft-voting ensemble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11288" y="6770159"/>
            <a:ext cx="3283086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AutoNum type="arabicPeriod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SHAP explainability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40378" y="6743489"/>
            <a:ext cx="2514954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AutoNum type="arabicPeriod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Web-based output + PDF report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911225" y="5574564"/>
            <a:ext cx="1044811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4" name="TextBox 14"/>
          <p:cNvSpPr txBox="1"/>
          <p:nvPr/>
        </p:nvSpPr>
        <p:spPr>
          <a:xfrm>
            <a:off x="1028700" y="5182134"/>
            <a:ext cx="2630991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AutoNum type="arabicPeriod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User symptoms input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308085" y="5593611"/>
            <a:ext cx="1044811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6" name="AutoShape 16"/>
          <p:cNvSpPr/>
          <p:nvPr/>
        </p:nvSpPr>
        <p:spPr>
          <a:xfrm>
            <a:off x="12508654" y="5612657"/>
            <a:ext cx="1044811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7" name="AutoShape 17"/>
          <p:cNvSpPr/>
          <p:nvPr/>
        </p:nvSpPr>
        <p:spPr>
          <a:xfrm flipH="1">
            <a:off x="13120011" y="6377553"/>
            <a:ext cx="866906" cy="58349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8" name="AutoShape 18"/>
          <p:cNvSpPr/>
          <p:nvPr/>
        </p:nvSpPr>
        <p:spPr>
          <a:xfrm flipH="1">
            <a:off x="8160818" y="6961048"/>
            <a:ext cx="10449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581127"/>
            <a:ext cx="11120140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Architecture &amp; Dataset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326740"/>
            <a:ext cx="8300070" cy="5566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System Architecture: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Input Layer:</a:t>
            </a:r>
          </a:p>
          <a:p>
            <a:pPr marL="906777" lvl="2" indent="-302259" algn="l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Symptoms mapped to 132-dimensional binary vector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Modeling Layer:</a:t>
            </a:r>
          </a:p>
          <a:p>
            <a:pPr marL="906777" lvl="2" indent="-302259" algn="just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Support Vector Machine (SVM)</a:t>
            </a:r>
          </a:p>
          <a:p>
            <a:pPr marL="906777" lvl="2" indent="-302259" algn="just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Deep Neural Network (DNN)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Decision Layer:</a:t>
            </a:r>
          </a:p>
          <a:p>
            <a:pPr marL="906777" lvl="2" indent="-302259" algn="just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Soft-voting ensemble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Explainability Layer:</a:t>
            </a:r>
          </a:p>
          <a:p>
            <a:pPr marL="906777" lvl="2" indent="-302259" algn="just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SHAP feature contribution analysis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Output Layer:</a:t>
            </a:r>
          </a:p>
          <a:p>
            <a:pPr marL="906777" lvl="2" indent="-302259" algn="just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Disease prediction</a:t>
            </a:r>
          </a:p>
          <a:p>
            <a:pPr marL="906777" lvl="2" indent="-302259" algn="just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Recommendations</a:t>
            </a:r>
          </a:p>
          <a:p>
            <a:pPr marL="906777" lvl="2" indent="-302259" algn="just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PDF report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531435" y="3326740"/>
            <a:ext cx="5727865" cy="296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Dataset: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4,920 patient records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41 disease categories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132 symptom features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Preprocessing Steps: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Binary symptoms encoding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Train-test split (80:20)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28700" y="1162887"/>
            <a:ext cx="16230600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Support Vector Machine &amp; Deep Neural Network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542682"/>
            <a:ext cx="5223002" cy="296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Support vector machine: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Implemented using scikit-learn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Kernel: Radial Basis Function (RBF)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Probability outputs used for ensemble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Achieved 100% test accuracy</a:t>
            </a:r>
          </a:p>
          <a:p>
            <a:pPr algn="just">
              <a:lnSpc>
                <a:spcPts val="2939"/>
              </a:lnSpc>
            </a:pPr>
            <a:endParaRPr lang="en-US" sz="20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695254" y="3542682"/>
            <a:ext cx="5223002" cy="519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Deep neural network: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Input Layer (132 features)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Dense (128) + Batch Normalization + Dropout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Dense (64) + Batch Normalization + Dropout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Dense (32)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Output Layer (Softmax)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Regularization used to prevent overfitting</a:t>
            </a:r>
          </a:p>
          <a:p>
            <a:pPr marL="453388" lvl="1" indent="-226694" algn="just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Achieved 100% test accuracy</a:t>
            </a:r>
          </a:p>
          <a:p>
            <a:pPr algn="just">
              <a:lnSpc>
                <a:spcPts val="2939"/>
              </a:lnSpc>
            </a:pPr>
            <a:endParaRPr lang="en-US" sz="20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2939"/>
              </a:lnSpc>
            </a:pPr>
            <a:endParaRPr lang="en-US" sz="20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28700" y="1123950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Ensemble Learning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668844"/>
            <a:ext cx="12269367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Soft-Voting Ensemble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combines predictions from multiple models by averaging their predicted probabilities for each class, selects the class with the highest average probability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2390" y="4539554"/>
            <a:ext cx="4966573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final= 0.5 ×</a:t>
            </a:r>
            <a:r>
              <a: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P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SVM + 0.5 × </a:t>
            </a:r>
            <a:r>
              <a: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DNN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2390" y="5232340"/>
            <a:ext cx="4966573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combines: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SVM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DNN;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while keeping their weight (importance) equal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47775"/>
            <a:ext cx="8396425" cy="66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Explainable AI &amp; SHAP</a:t>
            </a:r>
          </a:p>
        </p:txBody>
      </p:sp>
      <p:sp>
        <p:nvSpPr>
          <p:cNvPr id="4" name="AutoShape 4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9144178" y="1217896"/>
            <a:ext cx="5550337" cy="455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(SHapley Additive exPlanations)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25125" y="2444087"/>
            <a:ext cx="6776057" cy="408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SHAP:  (SHapley Additive exPlanations)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popular XAI method that shows how much each feature contributes to a model's prediction, providing insights for model interpretability and debugging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Works by assigning each feature an importance score(SHAP value).</a:t>
            </a:r>
          </a:p>
          <a:p>
            <a:pPr algn="l">
              <a:lnSpc>
                <a:spcPts val="2939"/>
              </a:lnSpc>
            </a:pPr>
            <a:endParaRPr lang="en-US" sz="20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SHAP?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Helps in explaining individual predictions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Identifies the importance of each feature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444087"/>
            <a:ext cx="6776057" cy="519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Explainable AI (XAI) : These are the processes that help us humans understand the decisions and outputs of AI or machine learning models, moving beyond "black-box" systems to reveal how and why an AI reached a conclusion.</a:t>
            </a:r>
          </a:p>
          <a:p>
            <a:pPr algn="l">
              <a:lnSpc>
                <a:spcPts val="2939"/>
              </a:lnSpc>
            </a:pPr>
            <a:endParaRPr lang="en-US" sz="20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XAI?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Builds trust and increase confidence.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Helps in identifying biases and ensures fairness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Helps in debugging by highlighting  unexpected behaviors, which further improves performance</a:t>
            </a:r>
          </a:p>
          <a:p>
            <a:pPr algn="l">
              <a:lnSpc>
                <a:spcPts val="2939"/>
              </a:lnSpc>
            </a:pPr>
            <a:endParaRPr lang="en-US" sz="20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47775"/>
            <a:ext cx="5585369" cy="123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WEB</a:t>
            </a:r>
          </a:p>
          <a:p>
            <a:pPr marL="0" lvl="0" indent="0" algn="l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APPLICATION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64906" y="3256879"/>
            <a:ext cx="8539861" cy="2712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220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FLASK-BASED BACKEND ARCHITECTURE:</a:t>
            </a:r>
          </a:p>
          <a:p>
            <a:pPr marL="477109" lvl="1" indent="-238555" algn="just">
              <a:lnSpc>
                <a:spcPts val="309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FLASK is used as a lightweight Python web framework.</a:t>
            </a:r>
          </a:p>
          <a:p>
            <a:pPr marL="477109" lvl="1" indent="-238555" algn="just">
              <a:lnSpc>
                <a:spcPts val="309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It acts as a bridge between the WEB UI AND ML MODELS.</a:t>
            </a:r>
          </a:p>
          <a:p>
            <a:pPr marL="477109" lvl="1" indent="-238555" algn="just">
              <a:lnSpc>
                <a:spcPts val="309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Handles HTTP requests and responses (GET, POST)</a:t>
            </a:r>
          </a:p>
          <a:p>
            <a:pPr marL="477109" lvl="1" indent="-238555" algn="just">
              <a:lnSpc>
                <a:spcPts val="309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Provide core functionalities of RESTFUL APIs.</a:t>
            </a:r>
          </a:p>
          <a:p>
            <a:pPr algn="just">
              <a:lnSpc>
                <a:spcPts val="3093"/>
              </a:lnSpc>
            </a:pPr>
            <a:endParaRPr lang="en-US" sz="220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578969" y="2987156"/>
            <a:ext cx="8995553" cy="3242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8"/>
              </a:lnSpc>
            </a:pPr>
            <a:r>
              <a:rPr lang="en-US" sz="2327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INTERACTIVE WEB UI:</a:t>
            </a:r>
          </a:p>
          <a:p>
            <a:pPr marL="502569" lvl="1" indent="-251284" algn="just">
              <a:lnSpc>
                <a:spcPts val="3258"/>
              </a:lnSpc>
              <a:buFont typeface="Arial"/>
              <a:buChar char="•"/>
            </a:pPr>
            <a:r>
              <a:rPr lang="en-US" sz="23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USER-FRIENDLY and responsive interface.</a:t>
            </a:r>
          </a:p>
          <a:p>
            <a:pPr marL="502569" lvl="1" indent="-251284" algn="just">
              <a:lnSpc>
                <a:spcPts val="3258"/>
              </a:lnSpc>
              <a:buFont typeface="Arial"/>
              <a:buChar char="•"/>
            </a:pPr>
            <a:r>
              <a:rPr lang="en-US" sz="23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Real-time interaction with backend APIs.</a:t>
            </a:r>
          </a:p>
          <a:p>
            <a:pPr marL="502569" lvl="1" indent="-251284" algn="just">
              <a:lnSpc>
                <a:spcPts val="3258"/>
              </a:lnSpc>
              <a:buFont typeface="Arial"/>
              <a:buChar char="•"/>
            </a:pPr>
            <a:r>
              <a:rPr lang="en-US" sz="23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Dynamic symptom input (Voice and Text).</a:t>
            </a:r>
          </a:p>
          <a:p>
            <a:pPr marL="502569" lvl="1" indent="-251284" algn="just">
              <a:lnSpc>
                <a:spcPts val="3258"/>
              </a:lnSpc>
              <a:buFont typeface="Arial"/>
              <a:buChar char="•"/>
            </a:pPr>
            <a:r>
              <a:rPr lang="en-US" sz="23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Multi-Theme Support (Light/Dark).</a:t>
            </a:r>
          </a:p>
          <a:p>
            <a:pPr marL="502569" lvl="1" indent="-251284" algn="just">
              <a:lnSpc>
                <a:spcPts val="3258"/>
              </a:lnSpc>
              <a:buFont typeface="Arial"/>
              <a:buChar char="•"/>
            </a:pPr>
            <a:r>
              <a:rPr lang="en-US" sz="23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Smooth Animations and Card-Based Layouts.</a:t>
            </a:r>
          </a:p>
          <a:p>
            <a:pPr marL="502569" lvl="1" indent="-251284" algn="just">
              <a:lnSpc>
                <a:spcPts val="3258"/>
              </a:lnSpc>
              <a:buFont typeface="Arial"/>
              <a:buChar char="•"/>
            </a:pPr>
            <a:r>
              <a:rPr lang="en-US" sz="23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Instant display of predictive results.</a:t>
            </a:r>
          </a:p>
          <a:p>
            <a:pPr marL="502569" lvl="1" indent="-251284" algn="just">
              <a:lnSpc>
                <a:spcPts val="3258"/>
              </a:lnSpc>
              <a:buFont typeface="Arial"/>
              <a:buChar char="•"/>
            </a:pPr>
            <a:r>
              <a:rPr lang="en-US" sz="23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 page reloads (Dynamic Updates)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75310" y="7096130"/>
            <a:ext cx="8539861" cy="2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220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FUNCTIONALITIES:</a:t>
            </a:r>
          </a:p>
          <a:p>
            <a:pPr marL="477109" lvl="1" indent="-238554" algn="l">
              <a:lnSpc>
                <a:spcPts val="309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ROUTE HANDLING USING @APP.ROUTE.</a:t>
            </a:r>
          </a:p>
          <a:p>
            <a:pPr marL="477109" lvl="1" indent="-238554" algn="l">
              <a:lnSpc>
                <a:spcPts val="309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JSON-based requests and response handling.</a:t>
            </a:r>
          </a:p>
          <a:p>
            <a:pPr marL="477109" lvl="1" indent="-238554" algn="l">
              <a:lnSpc>
                <a:spcPts val="309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Integration with Machine Learning prediction logic.</a:t>
            </a:r>
          </a:p>
          <a:p>
            <a:pPr marL="477109" lvl="1" indent="-238554" algn="l">
              <a:lnSpc>
                <a:spcPts val="309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Dynamic PDF generation support.</a:t>
            </a:r>
          </a:p>
          <a:p>
            <a:pPr marL="477109" lvl="1" indent="-238554" algn="l">
              <a:lnSpc>
                <a:spcPts val="309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AI chatbot requests proceesing.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6737" y="7524877"/>
            <a:ext cx="2611028" cy="1428944"/>
          </a:xfrm>
          <a:custGeom>
            <a:avLst/>
            <a:gdLst/>
            <a:ahLst/>
            <a:cxnLst/>
            <a:rect l="l" t="t" r="r" b="b"/>
            <a:pathLst>
              <a:path w="2611028" h="1428944">
                <a:moveTo>
                  <a:pt x="0" y="0"/>
                </a:moveTo>
                <a:lnTo>
                  <a:pt x="2611028" y="0"/>
                </a:lnTo>
                <a:lnTo>
                  <a:pt x="2611028" y="1428945"/>
                </a:lnTo>
                <a:lnTo>
                  <a:pt x="0" y="142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247775"/>
            <a:ext cx="5443340" cy="123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RESULTS AND 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2260" y="3239451"/>
            <a:ext cx="8432775" cy="2748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1"/>
              </a:lnSpc>
            </a:pPr>
            <a:r>
              <a:rPr lang="en-US" sz="224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EXPERIMENTAL RESULTS:</a:t>
            </a:r>
          </a:p>
          <a:p>
            <a:pPr marL="484447" lvl="1" indent="-242224" algn="l">
              <a:lnSpc>
                <a:spcPts val="3141"/>
              </a:lnSpc>
              <a:buFont typeface="Arial"/>
              <a:buChar char="•"/>
            </a:pPr>
            <a:r>
              <a:rPr lang="en-US" sz="22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It resulted in 100% accuracy across SVM and DNN.</a:t>
            </a:r>
          </a:p>
          <a:p>
            <a:pPr marL="484447" lvl="1" indent="-242224" algn="l">
              <a:lnSpc>
                <a:spcPts val="3141"/>
              </a:lnSpc>
              <a:buFont typeface="Arial"/>
              <a:buChar char="•"/>
            </a:pPr>
            <a:r>
              <a:rPr lang="en-US" sz="22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Successful disease prediction from symptoms.</a:t>
            </a:r>
          </a:p>
          <a:p>
            <a:pPr marL="484447" lvl="1" indent="-242224" algn="l">
              <a:lnSpc>
                <a:spcPts val="3141"/>
              </a:lnSpc>
              <a:buFont typeface="Arial"/>
              <a:buChar char="•"/>
            </a:pPr>
            <a:r>
              <a:rPr lang="en-US" sz="22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Consistent and reliable prediction observed.</a:t>
            </a:r>
          </a:p>
          <a:p>
            <a:pPr marL="484447" lvl="1" indent="-242224" algn="l">
              <a:lnSpc>
                <a:spcPts val="3141"/>
              </a:lnSpc>
              <a:buFont typeface="Arial"/>
              <a:buChar char="•"/>
            </a:pPr>
            <a:r>
              <a:rPr lang="en-US" sz="22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PDF Report generated accurately.</a:t>
            </a:r>
          </a:p>
          <a:p>
            <a:pPr marL="484447" lvl="1" indent="-242224" algn="l">
              <a:lnSpc>
                <a:spcPts val="3141"/>
              </a:lnSpc>
              <a:buFont typeface="Arial"/>
              <a:buChar char="•"/>
            </a:pPr>
            <a:r>
              <a:rPr lang="en-US" sz="22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Smooth end-to-end system execution.</a:t>
            </a:r>
          </a:p>
          <a:p>
            <a:pPr marL="484447" lvl="1" indent="-242224" algn="l">
              <a:lnSpc>
                <a:spcPts val="3141"/>
              </a:lnSpc>
              <a:buFont typeface="Arial"/>
              <a:buChar char="•"/>
            </a:pPr>
            <a:r>
              <a:rPr lang="en-US" sz="22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SHAP explanations generated dynamically.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26525" y="5240469"/>
            <a:ext cx="8432775" cy="3886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1"/>
              </a:lnSpc>
            </a:pPr>
            <a:r>
              <a:rPr lang="en-US" sz="224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CONCLUSION:</a:t>
            </a:r>
          </a:p>
          <a:p>
            <a:pPr marL="484447" lvl="1" indent="-242224" algn="l">
              <a:lnSpc>
                <a:spcPts val="3141"/>
              </a:lnSpc>
              <a:buFont typeface="Arial"/>
              <a:buChar char="•"/>
            </a:pPr>
            <a:r>
              <a:rPr lang="en-US" sz="22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DOCTOR AI PROVIDES INTELLIGENT DISEASE PREDICTION.</a:t>
            </a:r>
          </a:p>
          <a:p>
            <a:pPr marL="484447" lvl="1" indent="-242224" algn="l">
              <a:lnSpc>
                <a:spcPts val="3141"/>
              </a:lnSpc>
              <a:buFont typeface="Arial"/>
              <a:buChar char="•"/>
            </a:pPr>
            <a:r>
              <a:rPr lang="en-US" sz="22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ML-driven backend with Flask deployment.</a:t>
            </a:r>
          </a:p>
          <a:p>
            <a:pPr marL="484447" lvl="1" indent="-242224" algn="l">
              <a:lnSpc>
                <a:spcPts val="3141"/>
              </a:lnSpc>
              <a:buFont typeface="Arial"/>
              <a:buChar char="•"/>
            </a:pPr>
            <a:r>
              <a:rPr lang="en-US" sz="22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Interactive web interface for user accessibility.</a:t>
            </a:r>
          </a:p>
          <a:p>
            <a:pPr marL="484447" lvl="1" indent="-242224" algn="l">
              <a:lnSpc>
                <a:spcPts val="3141"/>
              </a:lnSpc>
              <a:buFont typeface="Arial"/>
              <a:buChar char="•"/>
            </a:pPr>
            <a:r>
              <a:rPr lang="en-US" sz="22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Combines classical ML, deep learning and XAI.</a:t>
            </a:r>
          </a:p>
          <a:p>
            <a:pPr marL="484447" lvl="1" indent="-242224" algn="l">
              <a:lnSpc>
                <a:spcPts val="3141"/>
              </a:lnSpc>
              <a:buFont typeface="Arial"/>
              <a:buChar char="•"/>
            </a:pPr>
            <a:r>
              <a:rPr lang="en-US" sz="22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Suitable for early and non-critical diagnosis support.</a:t>
            </a:r>
          </a:p>
          <a:p>
            <a:pPr algn="just">
              <a:lnSpc>
                <a:spcPts val="3141"/>
              </a:lnSpc>
            </a:pPr>
            <a:r>
              <a:rPr lang="en-US" sz="224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Doctor AI also demonstrates</a:t>
            </a:r>
            <a:r>
              <a:rPr lang="en-US" sz="22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ctr">
              <a:lnSpc>
                <a:spcPts val="3141"/>
              </a:lnSpc>
            </a:pPr>
            <a:r>
              <a:rPr lang="en-US" sz="2243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High Predictive Accuracy</a:t>
            </a:r>
          </a:p>
          <a:p>
            <a:pPr algn="ctr">
              <a:lnSpc>
                <a:spcPts val="3141"/>
              </a:lnSpc>
            </a:pPr>
            <a:r>
              <a:rPr lang="en-US" sz="2243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Strong Interpretability</a:t>
            </a:r>
          </a:p>
          <a:p>
            <a:pPr algn="l">
              <a:lnSpc>
                <a:spcPts val="3141"/>
              </a:lnSpc>
            </a:pPr>
            <a:endParaRPr lang="en-US" sz="2243" i="1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2042852"/>
            <a:ext cx="17848634" cy="5685856"/>
            <a:chOff x="0" y="0"/>
            <a:chExt cx="23798179" cy="7581141"/>
          </a:xfrm>
        </p:grpSpPr>
        <p:sp>
          <p:nvSpPr>
            <p:cNvPr id="4" name="TextBox 4"/>
            <p:cNvSpPr txBox="1"/>
            <p:nvPr/>
          </p:nvSpPr>
          <p:spPr>
            <a:xfrm>
              <a:off x="8511029" y="276225"/>
              <a:ext cx="6776120" cy="2085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31"/>
                </a:lnSpc>
              </a:pPr>
              <a:r>
                <a:rPr lang="en-US" sz="9106">
                  <a:solidFill>
                    <a:srgbClr val="FF5055"/>
                  </a:solidFill>
                  <a:latin typeface="Trend Sans One"/>
                  <a:ea typeface="Trend Sans One"/>
                  <a:cs typeface="Trend Sans One"/>
                  <a:sym typeface="Trend Sans One"/>
                </a:rPr>
                <a:t>thank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183676"/>
              <a:ext cx="23798179" cy="4397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32"/>
                </a:lnSpc>
              </a:pPr>
              <a:r>
                <a:rPr lang="en-US" sz="25619" spc="-589">
                  <a:solidFill>
                    <a:srgbClr val="FF5055"/>
                  </a:solidFill>
                  <a:latin typeface="Trend Slab Four"/>
                  <a:ea typeface="Trend Slab Four"/>
                  <a:cs typeface="Trend Slab Four"/>
                  <a:sym typeface="Trend Slab Four"/>
                </a:rPr>
                <a:t>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Microsoft Office PowerPoint</Application>
  <PresentationFormat>Custom</PresentationFormat>
  <Paragraphs>167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Trend Slab Four</vt:lpstr>
      <vt:lpstr>Archivo Black</vt:lpstr>
      <vt:lpstr>Garet Bold</vt:lpstr>
      <vt:lpstr>Open Sans</vt:lpstr>
      <vt:lpstr>Garet Italics</vt:lpstr>
      <vt:lpstr>Calibri</vt:lpstr>
      <vt:lpstr>Trend Sans One</vt:lpstr>
      <vt:lpstr>Garet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DOCTOR AI</dc:title>
  <dc:creator>Yash Deep</dc:creator>
  <cp:lastModifiedBy>Yash Deep</cp:lastModifiedBy>
  <cp:revision>2</cp:revision>
  <dcterms:created xsi:type="dcterms:W3CDTF">2006-08-16T00:00:00Z</dcterms:created>
  <dcterms:modified xsi:type="dcterms:W3CDTF">2026-01-09T05:54:34Z</dcterms:modified>
  <dc:identifier>DAG9qlPJ_Pk</dc:identifier>
</cp:coreProperties>
</file>